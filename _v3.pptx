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一致率の最大改善幅（%ポイント）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最大改善率（%）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21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Sc.#1
FLA比</c:v>
                  </c:pt>
                  <c:pt idx="1">
                    <c:v>Sc.#2
TarGuess-I比</c:v>
                  </c:pt>
                  <c:pt idx="2">
                    <c:v>Sc.#3
Pass2Edit比</c:v>
                  </c:pt>
                  <c:pt idx="3">
                    <c:v>Sc.#4
TarGuess-III比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17.07</c:v>
                </c:pt>
                <c:pt idx="1">
                  <c:v>45.98</c:v>
                </c:pt>
                <c:pt idx="2">
                  <c:v>13.87</c:v>
                </c:pt>
                <c:pt idx="3">
                  <c:v>36.14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PASSLLM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LLMを用いたパスワード推測フレームワーク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657600" cy="36576"/>
          </a:xfrm>
          <a:prstGeom prst="rect">
            <a:avLst/>
          </a:prstGeom>
          <a:solidFill>
            <a:srgbClr val="4FB3D9"/>
          </a:solidFill>
          <a:ln w="12700">
            <a:solidFill>
              <a:srgbClr val="4FB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論文：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Guessing Using Large Language Models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発表：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USENIX Security 2025　　</a:t>
            </a:r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著者：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Zou, M. An, D. Wang（南開大学）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648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ツール：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Zenodo 10.5281/zenodo.15612295  CC BY 4.0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1234440"/>
            <a:ext cx="2103120" cy="2926080"/>
          </a:xfrm>
          <a:prstGeom prst="roundRect">
            <a:avLst>
              <a:gd name="adj" fmla="val 6522"/>
            </a:avLst>
          </a:prstGeom>
          <a:solidFill>
            <a:srgbClr val="162050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325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4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推測シナリオ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95160" y="2743200"/>
            <a:ext cx="1645920" cy="2743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283464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①トローリング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②PII標的型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③再利用標的型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④マルチソース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PASSLLMとは？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Mistral・Llama・Qwen 等のデコーダ専用 LLM を LoRA でファインチューニングし、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パスワード候補を生成するパスワード推測フレームワーク。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USENIX Security 2025 で発表（南開大学・Zou et al.）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従来手法との違い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286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00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従来（PagPassGPT 等）：最大 約 1.2 億パラメータ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事前学習の恩恵が限定的・PIIを扱えない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1546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186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PASSLLM：7B パラメータ以上の LLM を使用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言語理解能力を活用・4シナリオを統一的に処理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896112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対応シナリオ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2435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4種類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トローリング〜マルチソース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221992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最大精度向上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5694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+45.98%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TarGuess-I比（100回以内）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3547872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FF7ED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蒸留後速度向上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8953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60720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Qwen2.5-0.5Bへの知識蒸留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4つのシナリオ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3977640"/>
        </p:xfrm>
        <a:graphic>
          <a:graphicData uri="http://schemas.openxmlformats.org/drawingml/2006/table">
            <a:tbl>
              <a:tblPr/>
              <a:tblGrid>
                <a:gridCol w="365760"/>
                <a:gridCol w="1143000"/>
                <a:gridCol w="1600200"/>
                <a:gridCol w="2514600"/>
                <a:gridCol w="2514600"/>
              </a:tblGrid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モデル名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推測種別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使用する補助情報（INFO）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評価上限・従来比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D5F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PASSLLM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トローリング推測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（不特定多数）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なし（固定プロンプト p0 のみ）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上限なし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FLA比 +2.87〜17.07%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7B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PASSLLM-I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標的型推測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氏名・誕生日・電話・メール等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（12306データセット）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100回以内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TarGuess-I比 +15〜45.98%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PASSLLM-II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再利用標的型推測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シスターパスワード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{"Old password": "iloveyou"}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1,000回以内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Pass2Edit比 +6.31〜13.87%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PASSLLM-III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マルチソース標的型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PII＋シスターパスワード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（両方を組み合わせ）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1,000回以内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TarGuess-III比 +13〜36.14%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システム概要フロー（論文 Figure 1 準拠）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96112"/>
            <a:ext cx="2743200" cy="384048"/>
          </a:xfrm>
          <a:prstGeom prst="rect">
            <a:avLst>
              <a:gd name="adj" fmla="val 285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パスワードリスト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RockYou（3,260万件）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000Webhost, LinkedIn, CSDN...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2221992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221992"/>
            <a:ext cx="2743200" cy="384048"/>
          </a:xfrm>
          <a:prstGeom prst="rect">
            <a:avLst>
              <a:gd name="adj" fmla="val 28571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21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PII（個人識別情報）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26243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12306: 氏名  誕生日  電話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メール  ユーザ名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3547872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547872"/>
            <a:ext cx="2743200" cy="384048"/>
          </a:xfrm>
          <a:prstGeom prst="rect">
            <a:avLst>
              <a:gd name="adj" fmla="val 2857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シスターパスワード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COMB: {"Old password":"iloveyou"}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同一ユーザの複数サービスのPW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508760"/>
            <a:ext cx="48463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1417320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834640"/>
            <a:ext cx="484632" cy="0"/>
          </a:xfrm>
          <a:prstGeom prst="line">
            <a:avLst/>
          </a:prstGeom>
          <a:noFill/>
          <a:ln w="31750">
            <a:solidFill>
              <a:srgbClr val="F57F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2743200"/>
            <a:ext cx="164592" cy="1828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4160520"/>
            <a:ext cx="484632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4069080"/>
            <a:ext cx="164592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896112"/>
            <a:ext cx="2560320" cy="3886200"/>
          </a:xfrm>
          <a:prstGeom prst="roundRect">
            <a:avLst>
              <a:gd name="adj" fmla="val 5357"/>
            </a:avLst>
          </a:prstGeom>
          <a:solidFill>
            <a:srgbClr val="EB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LLMs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11880" y="1389888"/>
            <a:ext cx="23774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基盤モデル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118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（大規模言語モデル）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208483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212140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 / LLaMA-2/3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 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11880" y="2743200"/>
            <a:ext cx="237744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LoRA アダプタ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03320" y="31546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3182112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r=16 / Wq・Wk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学習パラメータを約1/128に削減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パスワード推測に特化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11880" y="39136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⚡蒸留版：Qwen2.5-0.5B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（Sc.#1のみ　11.5倍高速）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1417320"/>
            <a:ext cx="30175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1325880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834640"/>
            <a:ext cx="301752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2743200"/>
            <a:ext cx="164592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4160520"/>
            <a:ext cx="301752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4069080"/>
            <a:ext cx="164592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896112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9418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65392" y="126187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Trawling 推測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18745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19202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65392" y="22402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標的型推測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2852928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28986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65392" y="32186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再利用標的型推測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92240" y="3831336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387705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65392" y="41970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マルチソース標的型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①のみ使用：Sc.#1　①②使用：なし　②のみ使用：Sc.#2　③のみ使用：Sc.#3　②③使用：Sc.#4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LoRAファインチューニングの仕組み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F0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の核心：低ランク行列で近似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通常のFineTuningは全70億パラメータを更新
→ 計算コストが膨大・VRAMが足りない
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 =  W0q  +  ΔWq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ΔWq  =  Aq × Bq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Aq∈R^{d×r}，Bq∈R^{r×k}　r &lt;&lt; d,k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（W0q は固定、Aqと Bq だけ学習）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 の場合（d=k=4,096，r=16）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学習パラメータ：16×(4,096+4,096)＝131,072個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Wq全体（16,777,216個）の約 1/128 に削減！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896112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FAFB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PASSLLMの訓練設定（INIファイル）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07408" y="1389888"/>
            <a:ext cx="4443984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4264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ベースLLM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14264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Mistral-7B-v0.1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07408" y="1709928"/>
            <a:ext cx="4443984" cy="320040"/>
          </a:xfrm>
          <a:prstGeom prst="rect">
            <a:avLst/>
          </a:prstGeom>
          <a:solidFill>
            <a:srgbClr val="FAFB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7465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LoRAランク 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17465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16（デフォルト）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7408" y="2029968"/>
            <a:ext cx="4443984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0665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LoRA適用対象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20665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q_proj, k_proj（2種）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7408" y="2350008"/>
            <a:ext cx="4443984" cy="320040"/>
          </a:xfrm>
          <a:prstGeom prst="rect">
            <a:avLst/>
          </a:prstGeom>
          <a:solidFill>
            <a:srgbClr val="FAFB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38658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lora_alpha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238658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07408" y="2670048"/>
            <a:ext cx="4443984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7066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lora_dropout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27066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07408" y="2990088"/>
            <a:ext cx="4443984" cy="320040"/>
          </a:xfrm>
          <a:prstGeom prst="rect">
            <a:avLst/>
          </a:prstGeom>
          <a:solidFill>
            <a:srgbClr val="FAFB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0266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バッチサイズ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302666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07408" y="3310128"/>
            <a:ext cx="4443984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3467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勾配累積ステップ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92240" y="33467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64（実効バッチ=256）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07408" y="3630168"/>
            <a:ext cx="4443984" cy="320040"/>
          </a:xfrm>
          <a:prstGeom prst="rect">
            <a:avLst/>
          </a:prstGeom>
          <a:solidFill>
            <a:srgbClr val="FAFB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36667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学習率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92240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5e-4（0.0005）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07408" y="3950208"/>
            <a:ext cx="4443984" cy="3200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98678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訓練エポック数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92240" y="398678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07408" y="4270248"/>
            <a:ext cx="4443984" cy="320040"/>
          </a:xfrm>
          <a:prstGeom prst="rect">
            <a:avLst/>
          </a:prstGeom>
          <a:solidFill>
            <a:srgbClr val="FAFB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43068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損失計算範囲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4306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パスワード部分のみ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434840" y="46451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論文には具体値の記載なし（ツール[2]のデフォルト値）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#1　トローリング推測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特定ユーザを狙わず不特定多数を標的に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10⁶〜10⁸ 件規模の大規模パスワード辞書を効率的に生成する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評価データセット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8463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780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主データ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26883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訓練100万件 / 評価10万件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846320" cy="530352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000Webhost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3026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クロスサービス評価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3236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RockYouで訓練→評価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84632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753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5753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クロスサービス評価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RockYouで訓練→評価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4846320" cy="530352"/>
          </a:xfrm>
          <a:prstGeom prst="rect">
            <a:avLst/>
          </a:prstGeom>
          <a:solidFill>
            <a:srgbClr val="F1F8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239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中国語5件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（Tianya等）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41239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クロスサービス評価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43342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Tianaで訓練→Dodonew評価等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914400"/>
            <a:ext cx="3474720" cy="388620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987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アルゴリズム1（概念）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詳細は次ページ 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16002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645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1：プレフィックス生成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19202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= {("",1.0)} からスタート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|PQ| &lt; N do  → 展開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N個のプレフィックスに分割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並列実行可能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971800"/>
            <a:ext cx="0" cy="137160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3054096"/>
            <a:ext cx="182880" cy="1645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29718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3017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2：パスワード生成（並列）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23560" y="331012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各プレフィックスを起点にBFS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Pr(c) &lt; τ → 枝刈り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KVキャッシュ再利用で高速化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4960" y="4370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性能：FLA比 +2.87〜17.07%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アルゴリズム1：二段階パスワード生成（詳細）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8EEF8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1：プレフィックス生成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= {("",1.0)}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61288" y="1874520"/>
            <a:ext cx="0" cy="256032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075688"/>
            <a:ext cx="182880" cy="1645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860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|PQ|&lt;N do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(s,Pr(s))←PQ.pop()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514600"/>
            <a:ext cx="301752" cy="0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8568" y="2423160"/>
            <a:ext cx="164592" cy="18288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267712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230428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Predict(M,p0,V)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77640" y="2514600"/>
            <a:ext cx="164592" cy="0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87368" y="2423160"/>
            <a:ext cx="164592" cy="18288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26771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3042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次トークン確率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47488" y="2834640"/>
            <a:ext cx="0" cy="301752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081528"/>
            <a:ext cx="182880" cy="1645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24612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32735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Pr(c)&gt;τ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contains EOS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39776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005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Cfinished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（確定）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51960" y="4224528"/>
            <a:ext cx="-630936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4133088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32461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27355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PQ.push(c,Pr(c))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（続けて探索）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3547872"/>
            <a:ext cx="-1828800" cy="0"/>
          </a:xfrm>
          <a:prstGeom prst="line">
            <a:avLst/>
          </a:prstGeom>
          <a:noFill/>
          <a:ln w="19050">
            <a:solidFill>
              <a:srgbClr val="2D5FA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423160" y="3547872"/>
            <a:ext cx="0" cy="-1033272"/>
          </a:xfrm>
          <a:prstGeom prst="line">
            <a:avLst/>
          </a:prstGeom>
          <a:noFill/>
          <a:ln w="19050">
            <a:solidFill>
              <a:srgbClr val="2D5FA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423160" y="2514600"/>
            <a:ext cx="-411480" cy="0"/>
          </a:xfrm>
          <a:prstGeom prst="line">
            <a:avLst/>
          </a:prstGeom>
          <a:noFill/>
          <a:ln w="19050">
            <a:solidFill>
              <a:srgbClr val="2D5FA6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20040" y="4343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|PQ|≥N になったら Stage 1 終了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0040" y="4663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（N=5,000 がデフォルト）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896112"/>
            <a:ext cx="4389120" cy="3977640"/>
          </a:xfrm>
          <a:prstGeom prst="roundRect">
            <a:avLst>
              <a:gd name="adj" fmla="val 2759"/>
            </a:avLst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2：パスワード生成（並列実行）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N個のプレフィックスを独立したサブタスクとして並列実行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16916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17373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= p0 + prefix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0" y="2148840"/>
            <a:ext cx="0" cy="256032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235000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51460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54203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（τ で枝刈り）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03520" y="2990088"/>
            <a:ext cx="0" cy="23774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317296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33756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336499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Cfinished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へ追加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2743200"/>
            <a:ext cx="228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080760" y="16916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35624" y="17373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= p0 + prefix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9400" y="2148840"/>
            <a:ext cx="0" cy="256032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37960" y="235000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0760" y="251460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35624" y="254203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（τ で枝刈り）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629400" y="2990088"/>
            <a:ext cx="0" cy="23774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7960" y="317296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333756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5624" y="336499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Cfinished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へ追加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78040" y="2743200"/>
            <a:ext cx="228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7406640" y="16916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17373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= p0 + prefix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55280" y="2148840"/>
            <a:ext cx="0" cy="256032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235000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251460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61504" y="254203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（τ で枝刈り）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955280" y="2990088"/>
            <a:ext cx="0" cy="23774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63840" y="3172968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6640" y="333756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61504" y="336499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Cfinished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へ追加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66344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（複数GPU/プロセスで並列化可能）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26280" y="4114800"/>
            <a:ext cx="438912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41605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出力形式：パスワード文字列  &lt;TAB&gt;  確率（科学記数法）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例:  password123  2.384728e-03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617720" y="4553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sort_by_prob=true で確率降順に並べること（monto_carlo.py の要求）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#2〜#4　標的型推測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8778240" cy="1353312"/>
          </a:xfrm>
          <a:prstGeom prst="roundRect">
            <a:avLst>
              <a:gd name="adj" fmla="val 6757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92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PASSLLM-I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標的型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81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{"Name":"Alice","Birthday":"1990-01-01",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"Email":"alice@ex.com","Phone":"..."}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9509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データセット：12306（約131,000件）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評価上限：100回以内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TarGuess-I比 +15〜45.98%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987552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005840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（動的ビームサーチ）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331720"/>
            <a:ext cx="8778240" cy="1353312"/>
          </a:xfrm>
          <a:prstGeom prst="roundRect">
            <a:avLst>
              <a:gd name="adj" fmla="val 675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04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PASSLLM-II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2752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再利用標的型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063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2990088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017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{"Old password":"iloveyou"}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複数件: {"Old password":["pw1","pw2",...]}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386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データセット：COMB（メールで紐付け）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評価上限：1,000回以内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Pass2Edit比 +6.31〜13.87%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242316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96912" y="244144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（動的ビームサーチ）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3767328"/>
            <a:ext cx="8778240" cy="1353312"/>
          </a:xfrm>
          <a:prstGeom prst="roundRect">
            <a:avLst>
              <a:gd name="adj" fmla="val 6757"/>
            </a:avLst>
          </a:prstGeom>
          <a:solidFill>
            <a:srgbClr val="F5F3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 PASSLLM-III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マルチソース標的型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4425696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4531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2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{"Name":"Alice","Birthday":"1990-01-01",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2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"Old password":["iloveyou","P@ss..."]}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データセット：12306 ＋ COMB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評価上限：1,000回以内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462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TarGuess-III比 +13〜36.14%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69480" y="3858768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3877056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（動的ビームサーチ）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5212080"/>
            <a:ext cx="8778240" cy="457200"/>
          </a:xfrm>
          <a:prstGeom prst="roundRect">
            <a:avLst>
              <a:gd name="adj" fmla="val 20000"/>
            </a:avLst>
          </a:prstGeom>
          <a:solidFill>
            <a:srgbClr val="F0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526694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#3 の注意：eval.py は "Old password" を確率=1 の候補として自動追加（ユーザが同じPWを使い回している可能性）　✦ #4：シスターPWが増えるほど精度向上（論文 Fig.7）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アルゴリズム2：動的ビームサーチ（詳細）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INFO（補助情報）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or シスターPW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234440"/>
            <a:ext cx="301752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0008" y="1143000"/>
            <a:ext cx="164592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896112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EB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LLM（1回だけ）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3472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Predict(M, INFO, V)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01752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143000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896112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932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CacheINFO を保存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全候補で共有・再利用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→INFOの再計算不要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1581912"/>
            <a:ext cx="0" cy="41148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90488" y="1993392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190488" y="2450592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90488" y="2907792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90488" y="3364992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760720" y="1828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CacheINFO（共有）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16916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728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深さ 1 （1文字目）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17282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95通り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1728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1728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 K[1] 件保持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2377440"/>
            <a:ext cx="621792" cy="0"/>
          </a:xfrm>
          <a:prstGeom prst="line">
            <a:avLst/>
          </a:prstGeom>
          <a:noFill/>
          <a:ln w="31750">
            <a:solidFill>
              <a:srgbClr val="2D5F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61488" y="2286000"/>
            <a:ext cx="164592" cy="18288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746504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1773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EOS確定候補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→Cfinishedへ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029968"/>
            <a:ext cx="2286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82880" y="24688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5054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深さ 2 （2文字目）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K[1]×95通り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66160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 K[2] 件保持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3154680"/>
            <a:ext cx="621792" cy="0"/>
          </a:xfrm>
          <a:prstGeom prst="line">
            <a:avLst/>
          </a:prstGeom>
          <a:noFill/>
          <a:ln w="31750">
            <a:solidFill>
              <a:srgbClr val="0369A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61488" y="3063240"/>
            <a:ext cx="164592" cy="1828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2523744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255117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EOS確定候補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→Cfinishedへ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2807208"/>
            <a:ext cx="2286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82880" y="32461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BAE6FD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2826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深さ 3 （3文字目）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286000" y="3282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K[2]×95通り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66160" y="3282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93192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 K[3] 件保持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3931920"/>
            <a:ext cx="621792" cy="0"/>
          </a:xfrm>
          <a:prstGeom prst="line">
            <a:avLst/>
          </a:prstGeom>
          <a:noFill/>
          <a:ln w="31750">
            <a:solidFill>
              <a:srgbClr val="0284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61488" y="3840480"/>
            <a:ext cx="164592" cy="1828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3300984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87768" y="332841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EOS確定候補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→Cfinishedへ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37760" y="3584448"/>
            <a:ext cx="2286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82880" y="40233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0599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深さ m （最大文字数）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286000" y="4059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566160" y="4059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93192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EOS確定 or 上限で終了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23760" y="4078224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87768" y="410565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EOS確定候補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→Cfinishedへ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937760" y="4361688"/>
            <a:ext cx="2286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182880" y="4800600"/>
            <a:ext cx="8778240" cy="566928"/>
          </a:xfrm>
          <a:prstGeom prst="roundRect">
            <a:avLst>
              <a:gd name="adj" fmla="val 16129"/>
            </a:avLst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8646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出力：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143000" y="48646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Cfinished から確率上位 max_guess_number 件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（Sc.#2：100件　Sc.#3・#4：1,000件）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675120" y="4864608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48272" y="4892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eos_threshold=0.001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batch_size=64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従来手法との性能比較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960120"/>
          <a:ext cx="3566160" cy="4114800"/>
        </p:xfrm>
        <a:graphic>
          <a:graphicData uri="http://schemas.openxmlformats.org/drawingml/2006/table">
            <a:tbl>
              <a:tblPr/>
              <a:tblGrid>
                <a:gridCol w="960120"/>
                <a:gridCol w="1097280"/>
                <a:gridCol w="731520"/>
                <a:gridCol w="77724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シナリオ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比較対象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評価条件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改善幅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Sc.#1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Trawling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RankGuess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上限なし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+2.87〜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Sc.#2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PII標的型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TarGuess-I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RFGuess-PII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+15.10〜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45.98%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Sc.#3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再利用型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Pass2Edit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Pass2Path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+6.31〜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Sc.#4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マルチSrc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TarGuess-III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+13.44〜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モデル蒸留による高速化　—　なぜ Scenario #1 のみ？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8778240" cy="1207008"/>
          </a:xfrm>
          <a:prstGeom prst="roundRect">
            <a:avLst>
              <a:gd name="adj" fmla="val 9091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蒸留を Scenario #1 のみに適用する理由（論文 Section 4.7）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Sc.#1（trawling）：評価に 10⁶〜10⁸ 件の大規模辞書が必要　→　速度がボトルネック　→　蒸留で 11.5 倍高速化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Sc.#2〜#4（targeted）：1 ユーザにつき 100〜1,000 件のみ生成　→　速度の問題なし　→　蒸留の適用なし（論文に記載なし）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2880" y="219456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67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教師モデル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billion パラメータ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訓練済（Sc.#1 専用）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 / 低速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69080" y="246888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514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蒸留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2907792"/>
            <a:ext cx="5486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816352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907792"/>
            <a:ext cx="5486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816352"/>
            <a:ext cx="16459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2194560"/>
            <a:ext cx="3721608" cy="2286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267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生徒モデル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Qwen2.5-0.5B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063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billion パラメータ（教師の約 1/14）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精度維持（論文 Fig.8a 参照）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精度維持 / 11.5倍高速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" y="4572000"/>
            <a:ext cx="8778240" cy="822960"/>
          </a:xfrm>
          <a:prstGeom prst="roundRect">
            <a:avLst>
              <a:gd name="adj" fmla="val 11111"/>
            </a:avLst>
          </a:prstGeom>
          <a:solidFill>
            <a:srgbClr val="F0F4FF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蒸留固有パラメータ（knowledge_distillation.py にハードコード・INIから変更不可）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90118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r=16  ｜  lora_alpha=64（訓練32と異なる）  ｜  対象7モジュール（訓練2種と異なる）  ｜  dropout=0.2（訓練0.05と異なる）  ｜  temp=2.0  ｜  損失=0.5×KL+0.5×CE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36576"/>
          </a:xfrm>
          <a:prstGeom prst="rect">
            <a:avLst/>
          </a:prstGeom>
          <a:solidFill>
            <a:srgbClr val="4FB3D9"/>
          </a:solidFill>
          <a:ln w="12700">
            <a:solidFill>
              <a:srgbClr val="4FB3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62050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LLMをパスワード推測に初適用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E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7B以上のLLMをLoRAでファインチューニング。従来の小型モデル（1.2億パラメータ）を大幅に超える精度を達成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62050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34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4シナリオを統一フレームワークで処理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E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アルゴリズム1（trawling）・アルゴリズム2（targeted）の2つで全シナリオを網羅。各シナリオで従来手法を上回る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62050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蒸留でSc.#1を11.5倍高速化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E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Sc.#1は10⁸件の生成が必要→速度がボトルネック。Mistral-7B→Qwen2.5-0.5Bへの知識蒸留で解決。Sc.#2〜#4は不要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508760"/>
          </a:xfrm>
          <a:prstGeom prst="roundRect">
            <a:avLst>
              <a:gd name="adj" fmla="val 9091"/>
            </a:avLst>
          </a:prstGeom>
          <a:solidFill>
            <a:srgbClr val="162050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CC BY 4.0 でコード・モデルを公開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E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Zenodo（DOI: 10.5281/zenodo.15612295）で訓練済みモデル・コード・再現用テストデータを公開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PASSLLM概要</dc:title>
  <dc:subject>PptxGenJS Presentation</dc:subject>
  <dc:creator>PptxGenJS</dc:creator>
  <cp:lastModifiedBy>PptxGenJS</cp:lastModifiedBy>
  <cp:revision>1</cp:revision>
  <dcterms:created xsi:type="dcterms:W3CDTF">2026-07-01T21:59:02Z</dcterms:created>
  <dcterms:modified xsi:type="dcterms:W3CDTF">2026-07-01T21:59:02Z</dcterms:modified>
</cp:coreProperties>
</file>